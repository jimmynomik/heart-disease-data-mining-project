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B4F3C3-F77C-7AF5-9DC9-4CF91A760BB9}" v="269" dt="2026-06-10T17:49:09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67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4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76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3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6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1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8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1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1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08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704088" y="904729"/>
            <a:ext cx="4206240" cy="1821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 err="1"/>
              <a:t>Πρό</a:t>
            </a:r>
            <a:r>
              <a:rPr lang="en-US" sz="3100" dirty="0"/>
              <a:t>β</a:t>
            </a:r>
            <a:r>
              <a:rPr lang="en-US" sz="3100" dirty="0" err="1"/>
              <a:t>λεψη</a:t>
            </a:r>
            <a:r>
              <a:rPr lang="en-US" sz="3100" dirty="0"/>
              <a:t> Κα</a:t>
            </a:r>
            <a:r>
              <a:rPr lang="en-US" sz="3100" dirty="0" err="1"/>
              <a:t>ρδι</a:t>
            </a:r>
            <a:r>
              <a:rPr lang="en-US" sz="3100" dirty="0"/>
              <a:t>α</a:t>
            </a:r>
            <a:r>
              <a:rPr lang="en-US" sz="3100" dirty="0" err="1"/>
              <a:t>κής</a:t>
            </a:r>
            <a:r>
              <a:rPr lang="en-US" sz="3100" dirty="0"/>
              <a:t> Νόσου </a:t>
            </a:r>
            <a:r>
              <a:rPr lang="en-US" sz="3100" dirty="0" err="1"/>
              <a:t>με</a:t>
            </a:r>
            <a:r>
              <a:rPr lang="en-US" sz="3100" dirty="0"/>
              <a:t> Τεχνικές </a:t>
            </a:r>
            <a:r>
              <a:rPr lang="en-US" sz="3100" dirty="0" err="1"/>
              <a:t>Μηχ</a:t>
            </a:r>
            <a:r>
              <a:rPr lang="en-US" sz="3100" dirty="0"/>
              <a:t>α</a:t>
            </a:r>
            <a:r>
              <a:rPr lang="en-US" sz="3100" dirty="0" err="1"/>
              <a:t>νικής</a:t>
            </a:r>
            <a:r>
              <a:rPr lang="en-US" sz="3100" dirty="0"/>
              <a:t> </a:t>
            </a:r>
            <a:r>
              <a:rPr lang="en-US" sz="3100" dirty="0" err="1"/>
              <a:t>Μάθησης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9EF34C-5622-413F-9C9F-AC937E306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5133974" y="913292"/>
            <a:ext cx="6418727" cy="180320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Μάθημ</a:t>
            </a:r>
            <a:r>
              <a:rPr lang="en-US" dirty="0"/>
              <a:t>α </a:t>
            </a:r>
            <a:r>
              <a:rPr lang="en-US" dirty="0" err="1"/>
              <a:t>Δι</a:t>
            </a:r>
            <a:r>
              <a:rPr lang="en-US" dirty="0"/>
              <a:t>α</a:t>
            </a:r>
            <a:r>
              <a:rPr lang="en-US" dirty="0" err="1"/>
              <a:t>χείριση</a:t>
            </a:r>
            <a:r>
              <a:rPr lang="en-US" dirty="0"/>
              <a:t> </a:t>
            </a:r>
            <a:r>
              <a:rPr lang="en-US" dirty="0" err="1"/>
              <a:t>Δεδομένων</a:t>
            </a:r>
            <a:r>
              <a:rPr lang="en-US" dirty="0"/>
              <a:t> </a:t>
            </a:r>
            <a:r>
              <a:rPr lang="en-US" dirty="0" err="1"/>
              <a:t>Μεγάλης</a:t>
            </a:r>
            <a:r>
              <a:rPr lang="en-US" dirty="0"/>
              <a:t> </a:t>
            </a:r>
            <a:r>
              <a:rPr lang="en-US" dirty="0" err="1"/>
              <a:t>Κλίμ</a:t>
            </a:r>
            <a:r>
              <a:rPr lang="en-US" dirty="0"/>
              <a:t>ακας </a:t>
            </a:r>
            <a:endParaRPr lang="el-GR"/>
          </a:p>
          <a:p>
            <a:r>
              <a:rPr lang="en-US" dirty="0" err="1"/>
              <a:t>Ονομ</a:t>
            </a:r>
            <a:r>
              <a:rPr lang="en-US" dirty="0"/>
              <a:t>α</a:t>
            </a:r>
            <a:r>
              <a:rPr lang="en-US" dirty="0" err="1"/>
              <a:t>τε</a:t>
            </a:r>
            <a:r>
              <a:rPr lang="en-US" dirty="0"/>
              <a:t>π</a:t>
            </a:r>
            <a:r>
              <a:rPr lang="en-US" dirty="0" err="1"/>
              <a:t>ώνυμο</a:t>
            </a:r>
            <a:r>
              <a:rPr lang="en-US" dirty="0"/>
              <a:t>: ΝΟΜΙΚΟΣ ΔΗΜΗΤΡΙΟΣ</a:t>
            </a:r>
          </a:p>
          <a:p>
            <a:r>
              <a:rPr lang="en-US"/>
              <a:t>ΑΜ : 22390160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83F86-CA80-2B23-E9CF-EC3A90BB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68" b="20210"/>
          <a:stretch>
            <a:fillRect/>
          </a:stretch>
        </p:blipFill>
        <p:spPr>
          <a:xfrm>
            <a:off x="800100" y="3048000"/>
            <a:ext cx="5133990" cy="2737551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549954-3C0C-48B7-9BE6-9B32C39D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E4A7DB01-E7EA-C772-DD4B-0295917FE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000" y="3147646"/>
            <a:ext cx="5691309" cy="221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2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1B78C29-755E-E440-798F-DF084686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l-GR" sz="3600">
                <a:latin typeface="Calibri"/>
                <a:ea typeface="Calibri"/>
                <a:cs typeface="Calibri"/>
              </a:rPr>
              <a:t>Σκοπός Εργασίας</a:t>
            </a:r>
            <a:endParaRPr lang="el-GR">
              <a:latin typeface="Calibri"/>
              <a:ea typeface="Calibri"/>
              <a:cs typeface="Calibri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06E47BA-6F9B-6F02-3523-BC2634C48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l-GR" b="1">
                <a:latin typeface="Calibri"/>
                <a:ea typeface="Calibri"/>
                <a:cs typeface="Calibri"/>
              </a:rPr>
              <a:t>Στόχος</a:t>
            </a:r>
          </a:p>
          <a:p>
            <a:pPr marL="0" indent="0">
              <a:buNone/>
            </a:pPr>
            <a:r>
              <a:rPr lang="el-GR">
                <a:latin typeface="Calibri"/>
                <a:ea typeface="Calibri"/>
                <a:cs typeface="Calibri"/>
              </a:rPr>
              <a:t>Η ανάπτυξη ενός συστήματος πρόβλεψης καρδιακής νόσου χρησιμοποιώντας τεχνικές μηχανικής μάθησης.</a:t>
            </a:r>
          </a:p>
          <a:p>
            <a:pPr marL="0" indent="0">
              <a:buNone/>
            </a:pPr>
            <a:r>
              <a:rPr lang="el-GR">
                <a:latin typeface="Calibri"/>
                <a:ea typeface="Calibri"/>
                <a:cs typeface="Calibri"/>
              </a:rPr>
              <a:t>Επιμέρους στόχοι: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Προεπεξεργασία δεδομένων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Ανάλυση δεδομένων (EDA)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Εκπαίδευση μοντέλων ταξινόμησης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Σύγκριση αποτελεσμάτων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Εφαρμογή τεχνικής K-Means Clustering</a:t>
            </a:r>
          </a:p>
          <a:p>
            <a:endParaRPr lang="el-G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54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7EDE0AC-B5F8-8541-445B-3D4B0D65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Dataset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Βάση δεδομένων">
            <a:extLst>
              <a:ext uri="{FF2B5EF4-FFF2-40B4-BE49-F238E27FC236}">
                <a16:creationId xmlns:a16="http://schemas.microsoft.com/office/drawing/2014/main" id="{0E75E4B9-1893-568F-D106-2F67FE2AA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0149" y="723901"/>
            <a:ext cx="5410200" cy="541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2F0618-7F5D-37FF-23E1-22FDED671041}"/>
              </a:ext>
            </a:extLst>
          </p:cNvPr>
          <p:cNvSpPr txBox="1"/>
          <p:nvPr/>
        </p:nvSpPr>
        <p:spPr>
          <a:xfrm>
            <a:off x="684696" y="1849783"/>
            <a:ext cx="432904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Heart Disease Dataset</a:t>
            </a:r>
          </a:p>
          <a:p>
            <a:pPr>
              <a:buFont typeface=""/>
              <a:buChar char="•"/>
            </a:pPr>
            <a:r>
              <a:rPr lang="en-US" dirty="0"/>
              <a:t>Αρχικές </a:t>
            </a:r>
            <a:r>
              <a:rPr lang="en-US" dirty="0" err="1"/>
              <a:t>εγγρ</a:t>
            </a:r>
            <a:r>
              <a:rPr lang="en-US" dirty="0"/>
              <a:t>α</a:t>
            </a:r>
            <a:r>
              <a:rPr lang="en-US" dirty="0" err="1"/>
              <a:t>φές</a:t>
            </a:r>
            <a:r>
              <a:rPr lang="en-US" dirty="0"/>
              <a:t>: 1025 </a:t>
            </a:r>
          </a:p>
          <a:p>
            <a:pPr>
              <a:buFont typeface=""/>
              <a:buChar char="•"/>
            </a:pPr>
            <a:r>
              <a:rPr lang="en-US" dirty="0"/>
              <a:t>Μετά </a:t>
            </a:r>
            <a:r>
              <a:rPr lang="en-US" dirty="0" err="1"/>
              <a:t>την</a:t>
            </a:r>
            <a:r>
              <a:rPr lang="en-US" dirty="0"/>
              <a:t> αφα</a:t>
            </a:r>
            <a:r>
              <a:rPr lang="en-US" dirty="0" err="1"/>
              <a:t>ίρεση</a:t>
            </a:r>
            <a:r>
              <a:rPr lang="en-US" dirty="0"/>
              <a:t> </a:t>
            </a:r>
            <a:r>
              <a:rPr lang="en-US" dirty="0" err="1"/>
              <a:t>δι</a:t>
            </a:r>
            <a:r>
              <a:rPr lang="en-US" dirty="0"/>
              <a:t>π</a:t>
            </a:r>
            <a:r>
              <a:rPr lang="en-US" dirty="0" err="1"/>
              <a:t>λοτύ</a:t>
            </a:r>
            <a:r>
              <a:rPr lang="en-US" dirty="0"/>
              <a:t>π</a:t>
            </a:r>
            <a:r>
              <a:rPr lang="en-US" dirty="0" err="1"/>
              <a:t>ων</a:t>
            </a:r>
            <a:r>
              <a:rPr lang="en-US" dirty="0"/>
              <a:t>: 302 </a:t>
            </a:r>
          </a:p>
          <a:p>
            <a:pPr>
              <a:buFont typeface=""/>
              <a:buChar char="•"/>
            </a:pPr>
            <a:r>
              <a:rPr lang="en-US" dirty="0"/>
              <a:t>Χαρα</a:t>
            </a:r>
            <a:r>
              <a:rPr lang="en-US" dirty="0" err="1"/>
              <a:t>κτηριστικά</a:t>
            </a:r>
            <a:r>
              <a:rPr lang="en-US" dirty="0"/>
              <a:t>: 13 </a:t>
            </a:r>
          </a:p>
          <a:p>
            <a:pPr>
              <a:buFont typeface=""/>
              <a:buChar char="•"/>
            </a:pPr>
            <a:r>
              <a:rPr lang="en-US" dirty="0" err="1"/>
              <a:t>Μετ</a:t>
            </a:r>
            <a:r>
              <a:rPr lang="en-US" dirty="0"/>
              <a:t>αβ</a:t>
            </a:r>
            <a:r>
              <a:rPr lang="en-US" dirty="0" err="1"/>
              <a:t>λητή</a:t>
            </a:r>
            <a:r>
              <a:rPr lang="en-US" dirty="0"/>
              <a:t> </a:t>
            </a:r>
            <a:r>
              <a:rPr lang="en-US" dirty="0" err="1"/>
              <a:t>στόχος</a:t>
            </a:r>
            <a:r>
              <a:rPr lang="en-US" dirty="0"/>
              <a:t>: target </a:t>
            </a:r>
          </a:p>
          <a:p>
            <a:endParaRPr lang="en-US" dirty="0"/>
          </a:p>
          <a:p>
            <a:r>
              <a:rPr lang="en-US" b="1" dirty="0"/>
              <a:t>Χαρα</a:t>
            </a:r>
            <a:r>
              <a:rPr lang="en-US" b="1" dirty="0" err="1"/>
              <a:t>κτηριστικά</a:t>
            </a:r>
            <a:endParaRPr lang="en-US" b="1"/>
          </a:p>
          <a:p>
            <a:pPr>
              <a:buFont typeface=""/>
              <a:buChar char="•"/>
            </a:pPr>
            <a:r>
              <a:rPr lang="en-US"/>
              <a:t>age </a:t>
            </a:r>
          </a:p>
          <a:p>
            <a:pPr>
              <a:buFont typeface=""/>
              <a:buChar char="•"/>
            </a:pPr>
            <a:r>
              <a:rPr lang="en-US"/>
              <a:t>sex </a:t>
            </a:r>
          </a:p>
          <a:p>
            <a:pPr>
              <a:buFont typeface=""/>
              <a:buChar char="•"/>
            </a:pPr>
            <a:r>
              <a:rPr lang="en-US" dirty="0" err="1"/>
              <a:t>chol</a:t>
            </a:r>
            <a:r>
              <a:rPr lang="en-US" dirty="0"/>
              <a:t> </a:t>
            </a:r>
          </a:p>
          <a:p>
            <a:pPr>
              <a:buFont typeface=""/>
              <a:buChar char="•"/>
            </a:pPr>
            <a:r>
              <a:rPr lang="en-US" dirty="0" err="1"/>
              <a:t>thalach</a:t>
            </a:r>
            <a:r>
              <a:rPr lang="en-US" dirty="0"/>
              <a:t> </a:t>
            </a:r>
          </a:p>
          <a:p>
            <a:pPr>
              <a:buFont typeface=""/>
              <a:buChar char="•"/>
            </a:pPr>
            <a:r>
              <a:rPr lang="en-US" dirty="0" err="1"/>
              <a:t>oldpeak</a:t>
            </a:r>
            <a:r>
              <a:rPr lang="en-US" dirty="0"/>
              <a:t> </a:t>
            </a:r>
          </a:p>
          <a:p>
            <a:pPr>
              <a:buFont typeface=""/>
              <a:buChar char="•"/>
            </a:pPr>
            <a:r>
              <a:rPr lang="en-US" dirty="0" err="1"/>
              <a:t>κ.ά</a:t>
            </a:r>
            <a:r>
              <a:rPr lang="en-US" dirty="0"/>
              <a:t>.</a:t>
            </a:r>
          </a:p>
          <a:p>
            <a:pPr>
              <a:buFont typeface=""/>
              <a:buChar char="•"/>
            </a:pPr>
            <a:endParaRPr lang="en-US" dirty="0"/>
          </a:p>
          <a:p>
            <a:r>
              <a:rPr lang="en-US" sz="1200" dirty="0" err="1">
                <a:latin typeface="Calibri"/>
                <a:ea typeface="Calibri"/>
                <a:cs typeface="Calibri"/>
              </a:rPr>
              <a:t>Πηγή</a:t>
            </a:r>
            <a:r>
              <a:rPr lang="en-US" sz="1200" dirty="0">
                <a:latin typeface="Calibri"/>
                <a:ea typeface="Calibri"/>
                <a:cs typeface="Calibri"/>
              </a:rPr>
              <a:t>: Kaggle Heart Disease Dataset</a:t>
            </a:r>
          </a:p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27366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9E54006-292D-2EC8-A74A-94959489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131249" cy="12645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>
                <a:latin typeface="Calibri"/>
                <a:ea typeface="Calibri"/>
                <a:cs typeface="Calibri"/>
              </a:rPr>
              <a:t>Data Preprocessing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Ο BI πίνακας μου">
            <a:extLst>
              <a:ext uri="{FF2B5EF4-FFF2-40B4-BE49-F238E27FC236}">
                <a16:creationId xmlns:a16="http://schemas.microsoft.com/office/drawing/2014/main" id="{60E47C0F-598E-335D-4303-24DBCFBEF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7888" y="668684"/>
            <a:ext cx="5410200" cy="541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828653-F6D5-AB07-E09B-86EEFC1CBC2E}"/>
              </a:ext>
            </a:extLst>
          </p:cNvPr>
          <p:cNvSpPr txBox="1"/>
          <p:nvPr/>
        </p:nvSpPr>
        <p:spPr>
          <a:xfrm>
            <a:off x="552174" y="2319130"/>
            <a:ext cx="4649304" cy="40198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l-G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4A947-1137-5E8F-5BF6-2A771C875997}"/>
              </a:ext>
            </a:extLst>
          </p:cNvPr>
          <p:cNvSpPr txBox="1"/>
          <p:nvPr/>
        </p:nvSpPr>
        <p:spPr>
          <a:xfrm>
            <a:off x="684696" y="2313609"/>
            <a:ext cx="41081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Calibri"/>
                <a:ea typeface="Calibri"/>
                <a:cs typeface="Calibri"/>
              </a:rPr>
              <a:t>Βήμ</a:t>
            </a:r>
            <a:r>
              <a:rPr lang="en-US" b="1" dirty="0">
                <a:latin typeface="Calibri"/>
                <a:ea typeface="Calibri"/>
                <a:cs typeface="Calibri"/>
              </a:rPr>
              <a:t>ατα</a:t>
            </a:r>
          </a:p>
          <a:p>
            <a:endParaRPr lang="en-US" b="1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✔ </a:t>
            </a:r>
            <a:r>
              <a:rPr lang="en-US" dirty="0" err="1">
                <a:latin typeface="Calibri"/>
                <a:ea typeface="Calibri"/>
                <a:cs typeface="Calibri"/>
              </a:rPr>
              <a:t>Έλεγχος</a:t>
            </a:r>
            <a:r>
              <a:rPr lang="en-US" dirty="0">
                <a:latin typeface="Calibri"/>
                <a:ea typeface="Calibri"/>
                <a:cs typeface="Calibri"/>
              </a:rPr>
              <a:t> missing values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✔ </a:t>
            </a:r>
            <a:r>
              <a:rPr lang="en-US" dirty="0" err="1">
                <a:latin typeface="Calibri"/>
                <a:ea typeface="Calibri"/>
                <a:cs typeface="Calibri"/>
              </a:rPr>
              <a:t>Αφ</a:t>
            </a:r>
            <a:r>
              <a:rPr lang="en-US" dirty="0">
                <a:latin typeface="Calibri"/>
                <a:ea typeface="Calibri"/>
                <a:cs typeface="Calibri"/>
              </a:rPr>
              <a:t>α</a:t>
            </a:r>
            <a:r>
              <a:rPr lang="en-US" dirty="0" err="1">
                <a:latin typeface="Calibri"/>
                <a:ea typeface="Calibri"/>
                <a:cs typeface="Calibri"/>
              </a:rPr>
              <a:t>ίρεση</a:t>
            </a:r>
            <a:r>
              <a:rPr lang="en-US" dirty="0">
                <a:latin typeface="Calibri"/>
                <a:ea typeface="Calibri"/>
                <a:cs typeface="Calibri"/>
              </a:rPr>
              <a:t> 723 </a:t>
            </a:r>
            <a:r>
              <a:rPr lang="en-US" dirty="0" err="1">
                <a:latin typeface="Calibri"/>
                <a:ea typeface="Calibri"/>
                <a:cs typeface="Calibri"/>
              </a:rPr>
              <a:t>δι</a:t>
            </a:r>
            <a:r>
              <a:rPr lang="en-US" dirty="0">
                <a:latin typeface="Calibri"/>
                <a:ea typeface="Calibri"/>
                <a:cs typeface="Calibri"/>
              </a:rPr>
              <a:t>π</a:t>
            </a:r>
            <a:r>
              <a:rPr lang="en-US" dirty="0" err="1">
                <a:latin typeface="Calibri"/>
                <a:ea typeface="Calibri"/>
                <a:cs typeface="Calibri"/>
              </a:rPr>
              <a:t>λότυ</a:t>
            </a:r>
            <a:r>
              <a:rPr lang="en-US" dirty="0">
                <a:latin typeface="Calibri"/>
                <a:ea typeface="Calibri"/>
                <a:cs typeface="Calibri"/>
              </a:rPr>
              <a:t>π</a:t>
            </a:r>
            <a:r>
              <a:rPr lang="en-US" dirty="0" err="1">
                <a:latin typeface="Calibri"/>
                <a:ea typeface="Calibri"/>
                <a:cs typeface="Calibri"/>
              </a:rPr>
              <a:t>ων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εγγρ</a:t>
            </a:r>
            <a:r>
              <a:rPr lang="en-US" dirty="0">
                <a:latin typeface="Calibri"/>
                <a:ea typeface="Calibri"/>
                <a:cs typeface="Calibri"/>
              </a:rPr>
              <a:t>α</a:t>
            </a:r>
            <a:r>
              <a:rPr lang="en-US" dirty="0" err="1">
                <a:latin typeface="Calibri"/>
                <a:ea typeface="Calibri"/>
                <a:cs typeface="Calibri"/>
              </a:rPr>
              <a:t>φών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✔ Train/Test Split (80%-20%)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✔ </a:t>
            </a:r>
            <a:r>
              <a:rPr lang="en-US" dirty="0" err="1">
                <a:latin typeface="Calibri"/>
                <a:ea typeface="Calibri"/>
                <a:cs typeface="Calibri"/>
              </a:rPr>
              <a:t>StandardScaler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✔ Feature Engineering (</a:t>
            </a:r>
            <a:r>
              <a:rPr lang="en-US" dirty="0" err="1">
                <a:latin typeface="Calibri"/>
                <a:ea typeface="Calibri"/>
                <a:cs typeface="Calibri"/>
              </a:rPr>
              <a:t>age_group</a:t>
            </a:r>
            <a:r>
              <a:rPr lang="en-US" dirty="0">
                <a:latin typeface="Calibri"/>
                <a:ea typeface="Calibri"/>
                <a:cs typeface="Calibri"/>
              </a:rPr>
              <a:t>)</a:t>
            </a:r>
          </a:p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05325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AB611EF-5633-C37C-A4B6-5F41B116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>
                <a:latin typeface="Calibri"/>
                <a:ea typeface="Calibri"/>
                <a:cs typeface="Calibri"/>
              </a:rPr>
              <a:t>Exploratory Data Analysis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F26C6F-889D-BA2B-2E4B-C7C80A2A7872}"/>
              </a:ext>
            </a:extLst>
          </p:cNvPr>
          <p:cNvSpPr txBox="1"/>
          <p:nvPr/>
        </p:nvSpPr>
        <p:spPr>
          <a:xfrm>
            <a:off x="4862022" y="915593"/>
            <a:ext cx="6614593" cy="1528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 b="1" dirty="0" err="1">
                <a:latin typeface="Calibri"/>
                <a:ea typeface="Calibri"/>
                <a:cs typeface="Calibri"/>
              </a:rPr>
              <a:t>Ανάλυση</a:t>
            </a:r>
            <a:r>
              <a:rPr lang="en-US" sz="1400" b="1" dirty="0">
                <a:latin typeface="Calibri"/>
                <a:ea typeface="Calibri"/>
                <a:cs typeface="Calibri"/>
              </a:rPr>
              <a:t> </a:t>
            </a:r>
            <a:r>
              <a:rPr lang="en-US" sz="1400" b="1" dirty="0" err="1">
                <a:latin typeface="Calibri"/>
                <a:ea typeface="Calibri"/>
                <a:cs typeface="Calibri"/>
              </a:rPr>
              <a:t>Δεδομένων</a:t>
            </a:r>
            <a:endParaRPr lang="el-GR" sz="1400" dirty="0"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n-US" sz="1400" dirty="0" err="1">
                <a:latin typeface="Calibri"/>
                <a:ea typeface="Calibri"/>
                <a:cs typeface="Calibri"/>
              </a:rPr>
              <a:t>Μελετήθηκε</a:t>
            </a:r>
            <a:r>
              <a:rPr lang="en-US" sz="1400" dirty="0">
                <a:latin typeface="Calibri"/>
                <a:ea typeface="Calibri"/>
                <a:cs typeface="Calibri"/>
              </a:rPr>
              <a:t>: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</a:rPr>
              <a:t>Κατα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νομή</a:t>
            </a:r>
            <a:r>
              <a:rPr lang="en-US" sz="1400" dirty="0">
                <a:latin typeface="Calibri"/>
                <a:ea typeface="Calibri"/>
                <a:cs typeface="Calibri"/>
              </a:rPr>
              <a:t> target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</a:rPr>
              <a:t>Κατα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νομή</a:t>
            </a:r>
            <a:r>
              <a:rPr lang="en-US" sz="1400" dirty="0"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ηλικί</a:t>
            </a:r>
            <a:r>
              <a:rPr lang="en-US" sz="1400" dirty="0">
                <a:latin typeface="Calibri"/>
                <a:ea typeface="Calibri"/>
                <a:cs typeface="Calibri"/>
              </a:rPr>
              <a:t>ας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alibri"/>
                <a:ea typeface="Calibri"/>
                <a:cs typeface="Calibri"/>
              </a:rPr>
              <a:t>Κατα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νομή</a:t>
            </a:r>
            <a:r>
              <a:rPr lang="en-US" sz="1400" dirty="0"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χοληστερόλης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0257AD50-705D-E514-6DFD-939D451174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9"/>
          <a:stretch>
            <a:fillRect/>
          </a:stretch>
        </p:blipFill>
        <p:spPr>
          <a:xfrm>
            <a:off x="20" y="2863970"/>
            <a:ext cx="12191980" cy="39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6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33DDFE1-5916-2D4D-E09E-D85C25BA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l-GR" sz="3600">
                <a:latin typeface="Calibri"/>
                <a:ea typeface="Calibri"/>
                <a:cs typeface="Calibri"/>
              </a:rPr>
              <a:t>Correlation Analysis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F715977-F586-049C-37F7-67EEF72E0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l-GR">
                <a:latin typeface="Calibri"/>
                <a:ea typeface="Calibri"/>
                <a:cs typeface="Calibri"/>
              </a:rPr>
              <a:t>Heatmap Συσχετίσεων</a:t>
            </a:r>
          </a:p>
          <a:p>
            <a:pPr marL="0" indent="0">
              <a:buNone/>
            </a:pPr>
            <a:r>
              <a:rPr lang="el-GR">
                <a:latin typeface="Calibri"/>
                <a:ea typeface="Calibri"/>
                <a:cs typeface="Calibri"/>
              </a:rPr>
              <a:t>Εντοπίστηκαν ισχυρές συσχετίσεις μεταξύ χαρακτηριστικών.</a:t>
            </a:r>
          </a:p>
          <a:p>
            <a:pPr marL="0" indent="0">
              <a:buNone/>
            </a:pPr>
            <a:r>
              <a:rPr lang="el-GR">
                <a:latin typeface="Calibri"/>
                <a:ea typeface="Calibri"/>
                <a:cs typeface="Calibri"/>
              </a:rPr>
              <a:t>Παραδείγματα: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cp ↔ target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thalach ↔ target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exang ↔ target</a:t>
            </a:r>
          </a:p>
          <a:p>
            <a:endParaRPr lang="el-GR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67FA9BE3-EFB5-5995-BF1C-9EE73820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86" r="1028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0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Τίτλος 1">
            <a:extLst>
              <a:ext uri="{FF2B5EF4-FFF2-40B4-BE49-F238E27FC236}">
                <a16:creationId xmlns:a16="http://schemas.microsoft.com/office/drawing/2014/main" id="{8DECAA5B-5810-C9FC-A903-D63E481E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r>
              <a:rPr lang="el-GR" sz="3700">
                <a:latin typeface="Calibri"/>
                <a:ea typeface="Calibri"/>
                <a:cs typeface="Calibri"/>
              </a:rPr>
              <a:t>Classification Models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0D5B79E-C0B3-FE99-1D47-DBF74584D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l-GR" sz="2400" b="1">
                <a:latin typeface="Calibri"/>
                <a:ea typeface="Calibri"/>
                <a:cs typeface="Calibri"/>
              </a:rPr>
              <a:t>Μοντέλα</a:t>
            </a:r>
          </a:p>
          <a:p>
            <a:pPr marL="0" indent="0">
              <a:buNone/>
            </a:pPr>
            <a:r>
              <a:rPr lang="el-GR" b="1">
                <a:latin typeface="Calibri"/>
                <a:ea typeface="Calibri"/>
                <a:cs typeface="Calibri"/>
              </a:rPr>
              <a:t>Logistic Regression :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Accuracy = 77%</a:t>
            </a:r>
          </a:p>
          <a:p>
            <a:endParaRPr lang="el-GR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l-GR" b="1">
                <a:latin typeface="Calibri"/>
                <a:ea typeface="Calibri"/>
                <a:cs typeface="Calibri"/>
              </a:rPr>
              <a:t>Decision Tree :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Accuracy = 74%</a:t>
            </a:r>
          </a:p>
          <a:p>
            <a:endParaRPr lang="el-GR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l-GR" b="1">
                <a:latin typeface="Calibri"/>
                <a:ea typeface="Calibri"/>
                <a:cs typeface="Calibri"/>
              </a:rPr>
              <a:t>Συμπέρασμα</a:t>
            </a:r>
          </a:p>
          <a:p>
            <a:pPr marL="0" indent="0">
              <a:buNone/>
            </a:pPr>
            <a:r>
              <a:rPr lang="el-GR">
                <a:latin typeface="Calibri"/>
                <a:ea typeface="Calibri"/>
                <a:cs typeface="Calibri"/>
              </a:rPr>
              <a:t>Η Logistic Regression παρουσίασε καλύτερη απόδοση!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56250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A18AADA-5A4C-AEFF-2EB4-5EAFC58B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4729"/>
            <a:ext cx="4206240" cy="1821525"/>
          </a:xfrm>
        </p:spPr>
        <p:txBody>
          <a:bodyPr>
            <a:normAutofit/>
          </a:bodyPr>
          <a:lstStyle/>
          <a:p>
            <a:r>
              <a:rPr lang="el-GR">
                <a:latin typeface="Calibri"/>
                <a:ea typeface="Calibri"/>
                <a:cs typeface="Calibri"/>
              </a:rPr>
              <a:t>Model Evaluation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9EF34C-5622-413F-9C9F-AC937E306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10B1485-DE6E-FD29-3C7B-FDC02BC32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756" y="665238"/>
            <a:ext cx="5457945" cy="15971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l-GR" b="1">
                <a:latin typeface="Calibri"/>
                <a:ea typeface="Calibri"/>
                <a:cs typeface="Calibri"/>
              </a:rPr>
              <a:t>Logistic Regression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Accuracy: 77%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AUC: 0.83</a:t>
            </a:r>
          </a:p>
          <a:p>
            <a:endParaRPr lang="el-GR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549954-3C0C-48B7-9BE6-9B32C39D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326A053E-0734-1C83-892B-4FEFFF28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343" y="2195582"/>
            <a:ext cx="4431748" cy="3891446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CE78F26C-E38A-94A8-2F56-BFC40D197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29" y="2266421"/>
            <a:ext cx="41433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1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DFEA7F3-6527-8A71-24D7-35F555E6B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300">
                <a:latin typeface="Calibri"/>
                <a:ea typeface="Calibri"/>
                <a:cs typeface="Calibri"/>
              </a:rPr>
              <a:t>Advanced Technique &amp; Συμπεράσματα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D8A4DBF-0A44-D754-8C48-BB7DC1469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02" y="2685773"/>
            <a:ext cx="4075849" cy="345811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l-GR" b="1">
                <a:latin typeface="Calibri"/>
                <a:ea typeface="Calibri"/>
                <a:cs typeface="Calibri"/>
              </a:rPr>
              <a:t>K-Means Clustering</a:t>
            </a:r>
          </a:p>
          <a:p>
            <a:pPr>
              <a:buNone/>
            </a:pPr>
            <a:r>
              <a:rPr lang="el-GR">
                <a:latin typeface="Calibri"/>
                <a:ea typeface="Calibri"/>
                <a:cs typeface="Calibri"/>
              </a:rPr>
              <a:t>• Δημιουργήθηκαν 2 clusters</a:t>
            </a:r>
          </a:p>
          <a:p>
            <a:pPr>
              <a:buNone/>
            </a:pPr>
            <a:r>
              <a:rPr lang="el-GR">
                <a:latin typeface="Calibri"/>
                <a:ea typeface="Calibri"/>
                <a:cs typeface="Calibri"/>
              </a:rPr>
              <a:t>• Silhouette Score = 0.18</a:t>
            </a:r>
          </a:p>
          <a:p>
            <a:pPr marL="0" indent="0">
              <a:buNone/>
            </a:pPr>
            <a:r>
              <a:rPr lang="el-GR" dirty="0">
                <a:latin typeface="Calibri"/>
                <a:ea typeface="Calibri"/>
                <a:cs typeface="Calibri"/>
              </a:rPr>
              <a:t>Το αποτέλεσμα δείχνει ασθενή αλλά υπαρκτό </a:t>
            </a:r>
            <a:r>
              <a:rPr lang="el-GR">
                <a:latin typeface="Calibri"/>
                <a:ea typeface="Calibri"/>
                <a:cs typeface="Calibri"/>
              </a:rPr>
              <a:t>διαχωρισμό των δεδομένων σε δύο ομάδες.</a:t>
            </a:r>
          </a:p>
          <a:p>
            <a:pPr marL="0" indent="0">
              <a:buNone/>
            </a:pPr>
            <a:r>
              <a:rPr lang="el-GR" b="1">
                <a:latin typeface="Calibri"/>
                <a:ea typeface="Calibri"/>
                <a:cs typeface="Calibri"/>
              </a:rPr>
              <a:t>Συμπεράσματα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Η Logistic Regression ήταν το καλύτερο μοντέλο.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Το dataset ήταν σχετικά ισορροπημένο.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Το K-Means διαχώρισε τα δεδομένα σε δύο ομάδες.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Η μηχανική μάθηση μπορεί να βοηθήσει στην έγκαιρη πρόβλεψη καρδιακής νόσου.</a:t>
            </a:r>
          </a:p>
          <a:p>
            <a:endParaRPr lang="el-GR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26CC4566-EC7F-5283-582B-0ED79BA5A1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6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E50C78-E0BF-1A07-EABD-35689AE1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latin typeface="Calibri"/>
                <a:ea typeface="Calibri"/>
                <a:cs typeface="Calibri"/>
              </a:rPr>
              <a:t>Συμπεράσματα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B1D8CAE-A78F-F0A8-0C6D-B32220DC1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12223"/>
            <a:ext cx="10798726" cy="38473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l-GR" sz="2200" b="1">
                <a:latin typeface="Calibri"/>
                <a:ea typeface="Calibri"/>
                <a:cs typeface="Calibri"/>
              </a:rPr>
              <a:t>Συμπεράσματα</a:t>
            </a:r>
            <a:endParaRPr lang="el-GR" sz="2200">
              <a:latin typeface="Calibri"/>
              <a:ea typeface="Calibri"/>
              <a:cs typeface="Calibri"/>
            </a:endParaRPr>
          </a:p>
          <a:p>
            <a:r>
              <a:rPr lang="el-GR">
                <a:latin typeface="Calibri"/>
                <a:ea typeface="Calibri"/>
                <a:cs typeface="Calibri"/>
              </a:rPr>
              <a:t>Πραγματοποιήθηκε προεπεξεργασία και ανάλυση του Heart Disease Dataset.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Υλοποιήθηκαν οι αλγόριθμοι Logistic Regression και Decision Tree.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Η Logistic Regression παρουσίασε την καλύτερη απόδοση (Accuracy ≈ 77%, AUC = 0.83).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Εφαρμόστηκε K-Means Clustering ως advanced technique. </a:t>
            </a:r>
          </a:p>
          <a:p>
            <a:r>
              <a:rPr lang="el-GR">
                <a:latin typeface="Calibri"/>
                <a:ea typeface="Calibri"/>
                <a:cs typeface="Calibri"/>
              </a:rPr>
              <a:t>Το dataset μπορεί να χρησιμοποιηθεί για την υποστήριξη της πρόβλεψης καρδιακής νόσου.</a:t>
            </a:r>
          </a:p>
          <a:p>
            <a:pPr marL="0" indent="0">
              <a:buNone/>
            </a:pPr>
            <a:endParaRPr lang="el-GR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l-GR" sz="2400" b="1">
                <a:latin typeface="Calibri"/>
                <a:ea typeface="Calibri"/>
                <a:cs typeface="Calibri"/>
              </a:rPr>
              <a:t>Ευχαριστώ για τον χρόνο σας!</a:t>
            </a:r>
            <a:endParaRPr lang="el-GR" sz="24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35617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Ευρεία οθόνη</PresentationFormat>
  <Paragraphs>0</Paragraphs>
  <Slides>10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1" baseType="lpstr">
      <vt:lpstr>ChronicleVTI</vt:lpstr>
      <vt:lpstr>Πρόβλεψη Καρδιακής Νόσου με Τεχνικές Μηχανικής Μάθησης</vt:lpstr>
      <vt:lpstr>Σκοπός Εργασίας</vt:lpstr>
      <vt:lpstr>Dataset</vt:lpstr>
      <vt:lpstr>Data Preprocessing</vt:lpstr>
      <vt:lpstr>Exploratory Data Analysis</vt:lpstr>
      <vt:lpstr>Correlation Analysis</vt:lpstr>
      <vt:lpstr>Classification Models</vt:lpstr>
      <vt:lpstr>Model Evaluation</vt:lpstr>
      <vt:lpstr>Advanced Technique &amp; Συμπεράσματα</vt:lpstr>
      <vt:lpstr>Συμπεράσματα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2026-06-10T17:01:52Z</dcterms:created>
  <dcterms:modified xsi:type="dcterms:W3CDTF">2026-06-11T14:11:15Z</dcterms:modified>
</cp:coreProperties>
</file>